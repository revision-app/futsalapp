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1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BCB223-5DDC-A7A1-D456-D52E82706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77E87A4-5B90-5A61-3274-D76330479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96CBE2-207B-7DBF-76E7-186EF561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A1E8-F8A0-42BE-950F-BB83B40327A7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4E18AA-9674-C61B-88F6-AF81602A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F7969E-C834-0C57-F7A9-F8555174C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F7396-92CF-4A4B-A8C1-1F57D31C1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363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C000E9-AFAE-70DB-FC7A-093FF06D9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0B2D3E-BB8C-1304-3712-2FA876733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C3D01A-92EA-28C3-371E-29C9839E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A1E8-F8A0-42BE-950F-BB83B40327A7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995F20-4498-AF0D-B73B-A4560EF16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347F7A-9239-8897-E685-F01184865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F7396-92CF-4A4B-A8C1-1F57D31C1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5385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933ACD-0E4F-5C33-7A13-4479175EE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3C414C-FEAC-5033-750E-53195C627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436B8D-0117-81F2-2254-45EA63568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A1E8-F8A0-42BE-950F-BB83B40327A7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D325CC-1C35-4734-12DF-1C336D9B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BE0208-DE1E-B973-A001-D97C9F18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F7396-92CF-4A4B-A8C1-1F57D31C1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3336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1EB4BA-9FC7-2631-467F-DBE450A4C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0651E8-A1E6-DB4B-19D2-76252BEEE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8A3CF1-C0C9-6DB8-1F55-F6418684D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17FEE6-8583-725D-19D4-9389365E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A1E8-F8A0-42BE-950F-BB83B40327A7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A058C3-D25E-412C-76F9-6D0E41CBD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68C587-86EE-158E-BBF2-351BD737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F7396-92CF-4A4B-A8C1-1F57D31C1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701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2426F3-42AE-DBF8-05D9-E923CB019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451EE93-1B75-8ADD-707A-147BC3A74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E59B20-4CB2-2FF9-EAA6-24B1E3444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9C2B0DF-061A-D885-7F7A-9574086E4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5C26BA0-F1A8-B19F-73BC-37D383F65A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A47BDD5-1EF7-98B6-12E2-76806187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A1E8-F8A0-42BE-950F-BB83B40327A7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E26C374-B745-9445-D73C-1EE4BC96D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FC853CE-10D8-542C-B910-FD2635B0D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F7396-92CF-4A4B-A8C1-1F57D31C1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387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B017DC-38B3-E3C6-8EB3-0FA73E1C1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AFF7E7-86F0-BB3E-4941-FCE6579BF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A1E8-F8A0-42BE-950F-BB83B40327A7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2DBE1D8-60E0-35B5-C08D-4A82969D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EDE673-A889-C8C7-0C50-7A56B6F1E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F7396-92CF-4A4B-A8C1-1F57D31C1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202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3EAC55-FE11-0093-A7E4-6BC47EAA4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A1E8-F8A0-42BE-950F-BB83B40327A7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F13F61C-C5ED-10B7-82D0-F813AA988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91D2A3-3EBD-C736-20B6-C47038FA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F7396-92CF-4A4B-A8C1-1F57D31C1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1382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58B2F6-CD6F-7D88-6D99-A93B957FE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603623-8AE6-BA78-4F11-77B78031A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CC4C6D-B292-11C5-1814-C2B497803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8D333C-27EB-69FB-D875-B9F6E2FC4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A1E8-F8A0-42BE-950F-BB83B40327A7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21CDA28-3923-DCA4-0CF9-1BAFBF0DE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75793B-ABA2-B8DA-D0C8-7409AB06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F7396-92CF-4A4B-A8C1-1F57D31C1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6469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453269-12BD-7FB4-CCF0-EC57DAF00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1B4596E-9CA6-4A34-8534-DAB8901BA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34DACA-182A-5070-40CF-524FCEBEB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45D80D-9819-D570-BA59-96820427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A1E8-F8A0-42BE-950F-BB83B40327A7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22D80C-B0DC-663D-2641-CFE45A6F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F9EC88-CBB1-490B-F33D-2EF6C38A1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F7396-92CF-4A4B-A8C1-1F57D31C1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96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D2C0CA-E33D-7EB3-B407-7D821253F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F7322DE-7924-4484-2950-78D88DEA3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1887FF-E84E-CF1A-1F2C-108297741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A1E8-F8A0-42BE-950F-BB83B40327A7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D2BBBA-1CAA-A5E2-8EEF-088832877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325BA1-D8AA-FAF6-7210-5199E931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F7396-92CF-4A4B-A8C1-1F57D31C1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6251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A1EFFFB-6931-D75C-60A1-8059F41DE9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C81EBE1-3D11-854E-124F-1BFEFEB86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99D579-2530-DBD2-4325-1C7BC145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AA1E8-F8A0-42BE-950F-BB83B40327A7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A9630E-7EAD-EC70-8340-5AD7CA416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CD8FB0-5FC9-735A-08DE-A8AE743A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F7396-92CF-4A4B-A8C1-1F57D31C1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245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AFBEE42-2C97-DBD2-7347-EC1E9F09E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5661E3-D5A2-4EC6-D8F1-F5A30EF26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10F737-EEDA-2209-0CD1-2B392F56E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AA1E8-F8A0-42BE-950F-BB83B40327A7}" type="datetimeFigureOut">
              <a:rPr kumimoji="1" lang="ja-JP" altLang="en-US" smtClean="0"/>
              <a:t>2026/5/17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FCA692-62B9-7014-F972-BBBEA2F033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ECF9E1-5E58-3AD0-EC15-29780525E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F7396-92CF-4A4B-A8C1-1F57D31C1F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8545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3EBE779-7053-38CB-2FB9-1C1DDF4D66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31EBE66-CACC-98C2-3EB0-0FBB24FBEB60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1453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89EEAFD-EE5A-8966-8326-03C9DC71DE00}"/>
              </a:ext>
            </a:extLst>
          </p:cNvPr>
          <p:cNvSpPr txBox="1"/>
          <p:nvPr/>
        </p:nvSpPr>
        <p:spPr>
          <a:xfrm>
            <a:off x="431800" y="152400"/>
            <a:ext cx="7747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300" b="1">
                <a:solidFill>
                  <a:srgbClr val="FFFFFF"/>
                </a:solidFill>
                <a:latin typeface="Yu Gothic" panose="020B0400000000000000" pitchFamily="50" charset="-128"/>
              </a:rPr>
              <a:t>フットサルアプリ 運用費・代替サービスまとめ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B3A8A2-B3EC-BF29-8D9C-6E660363F6C0}"/>
              </a:ext>
            </a:extLst>
          </p:cNvPr>
          <p:cNvSpPr txBox="1"/>
          <p:nvPr/>
        </p:nvSpPr>
        <p:spPr>
          <a:xfrm>
            <a:off x="9144000" y="228600"/>
            <a:ext cx="2667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>
                <a:solidFill>
                  <a:srgbClr val="DCFCE7"/>
                </a:solidFill>
                <a:latin typeface="Yu Gothic" panose="020B0400000000000000" pitchFamily="50" charset="-128"/>
              </a:rPr>
              <a:t>Railway Hobby / </a:t>
            </a:r>
            <a:r>
              <a:rPr kumimoji="1" lang="ja-JP" altLang="en-US" sz="1200">
                <a:solidFill>
                  <a:srgbClr val="DCFCE7"/>
                </a:solidFill>
                <a:latin typeface="Yu Gothic" panose="020B0400000000000000" pitchFamily="50" charset="-128"/>
              </a:rPr>
              <a:t>約</a:t>
            </a:r>
            <a:r>
              <a:rPr kumimoji="1" lang="en-US" altLang="ja-JP" sz="1200">
                <a:solidFill>
                  <a:srgbClr val="DCFCE7"/>
                </a:solidFill>
                <a:latin typeface="Yu Gothic" panose="020B0400000000000000" pitchFamily="50" charset="-128"/>
              </a:rPr>
              <a:t>15</a:t>
            </a:r>
            <a:r>
              <a:rPr kumimoji="1" lang="ja-JP" altLang="en-US" sz="1200">
                <a:solidFill>
                  <a:srgbClr val="DCFCE7"/>
                </a:solidFill>
                <a:latin typeface="Yu Gothic" panose="020B0400000000000000" pitchFamily="50" charset="-128"/>
              </a:rPr>
              <a:t>人利用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F9E7C451-08DF-475D-672B-0039B4F81FFB}"/>
              </a:ext>
            </a:extLst>
          </p:cNvPr>
          <p:cNvSpPr/>
          <p:nvPr/>
        </p:nvSpPr>
        <p:spPr>
          <a:xfrm>
            <a:off x="431800" y="1092200"/>
            <a:ext cx="3530600" cy="444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396AC7A-941D-E13C-1FE1-AED79173CB1F}"/>
              </a:ext>
            </a:extLst>
          </p:cNvPr>
          <p:cNvSpPr txBox="1"/>
          <p:nvPr/>
        </p:nvSpPr>
        <p:spPr>
          <a:xfrm>
            <a:off x="711200" y="1320800"/>
            <a:ext cx="2971800" cy="21236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200"/>
              </a:spcAft>
            </a:pPr>
            <a:r>
              <a:rPr kumimoji="1" lang="ja-JP" altLang="en-US" sz="1500" b="1">
                <a:solidFill>
                  <a:srgbClr val="111827"/>
                </a:solidFill>
                <a:latin typeface="Yu Gothic" panose="020B0400000000000000" pitchFamily="50" charset="-128"/>
              </a:rPr>
              <a:t>費用感の結論</a:t>
            </a:r>
          </a:p>
          <a:p>
            <a:pPr>
              <a:spcAft>
                <a:spcPts val="200"/>
              </a:spcAft>
            </a:pP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月額目安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: $5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前後
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Hobby Plan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は 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$5/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月 が標準
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$5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分の利用料が含まれる
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$5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を超えた分だけ追加請求
例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: 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使用量 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$7 → 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請求 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$7
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実測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RAM: DB 41MB + App 88MB
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合計 約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129MB 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とかなり軽量
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15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人程度なら 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$5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内の見込みが高い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1235A7C0-034E-9517-E5DD-69AE3C5D637A}"/>
              </a:ext>
            </a:extLst>
          </p:cNvPr>
          <p:cNvSpPr/>
          <p:nvPr/>
        </p:nvSpPr>
        <p:spPr>
          <a:xfrm>
            <a:off x="4330700" y="1092200"/>
            <a:ext cx="3530600" cy="444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9E116AB-11D1-FDBB-5618-D1F5742B0842}"/>
              </a:ext>
            </a:extLst>
          </p:cNvPr>
          <p:cNvSpPr txBox="1"/>
          <p:nvPr/>
        </p:nvSpPr>
        <p:spPr>
          <a:xfrm>
            <a:off x="4610100" y="1320800"/>
            <a:ext cx="2971800" cy="2333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200"/>
              </a:spcAft>
            </a:pPr>
            <a:r>
              <a:rPr kumimoji="1" lang="ja-JP" altLang="en-US" sz="1500" b="1">
                <a:solidFill>
                  <a:srgbClr val="111827"/>
                </a:solidFill>
                <a:latin typeface="Yu Gothic" panose="020B0400000000000000" pitchFamily="50" charset="-128"/>
              </a:rPr>
              <a:t>費用が増える可能性</a:t>
            </a:r>
          </a:p>
          <a:p>
            <a:pPr>
              <a:spcAft>
                <a:spcPts val="200"/>
              </a:spcAft>
            </a:pP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・利用人数が大きく増える
・写真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/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動画などの保存機能
・通知やメール送信の増加
・集計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/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分析機能の追加
・自動処理や複数環境の追加
運用方針
・利用上限と通知を設定
・機能追加前に費用影響を確認
・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1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週間ほど実測して見直す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7A25C72-3D50-2803-CA56-14D87D83576C}"/>
              </a:ext>
            </a:extLst>
          </p:cNvPr>
          <p:cNvSpPr/>
          <p:nvPr/>
        </p:nvSpPr>
        <p:spPr>
          <a:xfrm>
            <a:off x="8229600" y="1092200"/>
            <a:ext cx="3530600" cy="444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D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39851F6-2E1C-DB4B-9F46-B1883A0E7416}"/>
              </a:ext>
            </a:extLst>
          </p:cNvPr>
          <p:cNvSpPr txBox="1"/>
          <p:nvPr/>
        </p:nvSpPr>
        <p:spPr>
          <a:xfrm>
            <a:off x="8509000" y="1320800"/>
            <a:ext cx="2971800" cy="25186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200"/>
              </a:spcAft>
            </a:pPr>
            <a:r>
              <a:rPr kumimoji="1" lang="ja-JP" altLang="en-US" sz="1500" b="1">
                <a:solidFill>
                  <a:srgbClr val="111827"/>
                </a:solidFill>
                <a:latin typeface="Yu Gothic" panose="020B0400000000000000" pitchFamily="50" charset="-128"/>
              </a:rPr>
              <a:t>代替サービス比較</a:t>
            </a:r>
          </a:p>
          <a:p>
            <a:pPr>
              <a:spcAft>
                <a:spcPts val="200"/>
              </a:spcAft>
            </a:pP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Railway: $5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前後 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/ 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第一候補
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Render: $13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前後 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/ 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簡単だが高め
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DigitalOcean: $12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前後 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/ 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料金が読みやすい
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Heroku: $12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前後 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/ 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老舗だが割高
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Fly.io: $5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前後も可能 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/ 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やや玄人向け
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Railway + Neon DB: 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節約案 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/ 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構成が分かれる
判断
この規模では </a:t>
            </a:r>
            <a:r>
              <a:rPr kumimoji="1" lang="en-US" altLang="ja-JP" sz="1200">
                <a:solidFill>
                  <a:srgbClr val="111827"/>
                </a:solidFill>
                <a:latin typeface="Yu Gothic" panose="020B0400000000000000" pitchFamily="50" charset="-128"/>
              </a:rPr>
              <a:t>Railway </a:t>
            </a:r>
            <a:r>
              <a:rPr kumimoji="1" lang="ja-JP" altLang="en-US" sz="1200">
                <a:solidFill>
                  <a:srgbClr val="111827"/>
                </a:solidFill>
                <a:latin typeface="Yu Gothic" panose="020B0400000000000000" pitchFamily="50" charset="-128"/>
              </a:rPr>
              <a:t>が最安クラスで、
管理のしやすさも含めてバランスが良い。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67E10A64-9B57-67B9-C793-24B6C8476116}"/>
              </a:ext>
            </a:extLst>
          </p:cNvPr>
          <p:cNvSpPr/>
          <p:nvPr/>
        </p:nvSpPr>
        <p:spPr>
          <a:xfrm>
            <a:off x="431800" y="5816600"/>
            <a:ext cx="11328400" cy="635000"/>
          </a:xfrm>
          <a:prstGeom prst="roundRect">
            <a:avLst/>
          </a:prstGeom>
          <a:solidFill>
            <a:srgbClr val="1453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DCAE63C-53EF-69CA-127E-04A7DD7A7BC4}"/>
              </a:ext>
            </a:extLst>
          </p:cNvPr>
          <p:cNvSpPr txBox="1"/>
          <p:nvPr/>
        </p:nvSpPr>
        <p:spPr>
          <a:xfrm>
            <a:off x="635000" y="5956300"/>
            <a:ext cx="1092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1300" b="1">
                <a:solidFill>
                  <a:srgbClr val="FFFFFF"/>
                </a:solidFill>
                <a:latin typeface="Yu Gothic" panose="020B0400000000000000" pitchFamily="50" charset="-128"/>
              </a:rPr>
              <a:t>メンバー向け説明</a:t>
            </a:r>
            <a:r>
              <a:rPr kumimoji="1" lang="en-US" altLang="ja-JP" sz="1300" b="1">
                <a:solidFill>
                  <a:srgbClr val="FFFFFF"/>
                </a:solidFill>
                <a:latin typeface="Yu Gothic" panose="020B0400000000000000" pitchFamily="50" charset="-128"/>
              </a:rPr>
              <a:t>: </a:t>
            </a:r>
            <a:r>
              <a:rPr kumimoji="1" lang="ja-JP" altLang="en-US" sz="1300" b="1">
                <a:solidFill>
                  <a:srgbClr val="FFFFFF"/>
                </a:solidFill>
                <a:latin typeface="Yu Gothic" panose="020B0400000000000000" pitchFamily="50" charset="-128"/>
              </a:rPr>
              <a:t>通常は月</a:t>
            </a:r>
            <a:r>
              <a:rPr kumimoji="1" lang="en-US" altLang="ja-JP" sz="1300" b="1">
                <a:solidFill>
                  <a:srgbClr val="FFFFFF"/>
                </a:solidFill>
                <a:latin typeface="Yu Gothic" panose="020B0400000000000000" pitchFamily="50" charset="-128"/>
              </a:rPr>
              <a:t>$5</a:t>
            </a:r>
            <a:r>
              <a:rPr kumimoji="1" lang="ja-JP" altLang="en-US" sz="1300" b="1">
                <a:solidFill>
                  <a:srgbClr val="FFFFFF"/>
                </a:solidFill>
                <a:latin typeface="Yu Gothic" panose="020B0400000000000000" pitchFamily="50" charset="-128"/>
              </a:rPr>
              <a:t>程度。利用量や機能追加で増える場合は、超過分だけ追加。大きな変更は事前に共有して判断する。</a:t>
            </a:r>
          </a:p>
        </p:txBody>
      </p:sp>
    </p:spTree>
    <p:extLst>
      <p:ext uri="{BB962C8B-B14F-4D97-AF65-F5344CB8AC3E}">
        <p14:creationId xmlns:p14="http://schemas.microsoft.com/office/powerpoint/2010/main" val="1665465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ユーザー設定</PresentationFormat>
  <Paragraphs>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Hirotaka Tagawa</dc:creator>
  <cp:lastModifiedBy>Hirotaka Tagawa</cp:lastModifiedBy>
  <cp:revision>1</cp:revision>
  <dcterms:created xsi:type="dcterms:W3CDTF">2026-05-16T15:02:07Z</dcterms:created>
  <dcterms:modified xsi:type="dcterms:W3CDTF">2026-05-16T15:02:07Z</dcterms:modified>
</cp:coreProperties>
</file>